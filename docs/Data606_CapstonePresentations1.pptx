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53"/>
    <p:restoredTop sz="77503"/>
  </p:normalViewPr>
  <p:slideViewPr>
    <p:cSldViewPr snapToGrid="0">
      <p:cViewPr varScale="1">
        <p:scale>
          <a:sx n="102" d="100"/>
          <a:sy n="102" d="100"/>
        </p:scale>
        <p:origin x="1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Hello everyone, my name is </a:t>
            </a:r>
            <a:r>
              <a:rPr lang="en-US" b="1" dirty="0"/>
              <a:t>Reddy Sai Reddy Duggireddy</a:t>
            </a:r>
            <a:r>
              <a:rPr lang="en-US" dirty="0"/>
              <a:t>, and this is my final capstone project titled </a:t>
            </a:r>
            <a:r>
              <a:rPr lang="en-US" b="1" dirty="0"/>
              <a:t>Loan Default Prediction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goal of this project is to build a machine learning system that predicts whether a borrower will default on their loan.</a:t>
            </a:r>
            <a:br>
              <a:rPr lang="en-US" dirty="0"/>
            </a:br>
            <a:r>
              <a:rPr lang="en-US" dirty="0"/>
              <a:t>Throughout this presentation, I will walk you through the dataset, preprocessing steps, exploratory analysis, model building, results, and finally the application and future improvements.</a:t>
            </a:r>
            <a:endParaRPr dirty="0"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Loan default prediction is extremely important in modern finance.</a:t>
            </a:r>
            <a:br>
              <a:rPr lang="en-US" dirty="0"/>
            </a:br>
            <a:r>
              <a:rPr lang="en-US" dirty="0"/>
              <a:t>Banks and financial institutions receive thousands of applications each day, and manually assessing each borrower’s risk is time-consuming and prone to human error.</a:t>
            </a:r>
          </a:p>
          <a:p>
            <a:r>
              <a:rPr lang="en-US" dirty="0"/>
              <a:t>Predictive modeling helps institutions:</a:t>
            </a:r>
          </a:p>
          <a:p>
            <a:r>
              <a:rPr lang="en-US" dirty="0"/>
              <a:t>Make </a:t>
            </a:r>
            <a:r>
              <a:rPr lang="en-US" b="1" dirty="0"/>
              <a:t>faster and more accurate decisions</a:t>
            </a:r>
            <a:r>
              <a:rPr lang="en-US" dirty="0"/>
              <a:t>,</a:t>
            </a:r>
          </a:p>
          <a:p>
            <a:r>
              <a:rPr lang="en-US" dirty="0"/>
              <a:t>Reduce </a:t>
            </a:r>
            <a:r>
              <a:rPr lang="en-US" b="1" dirty="0"/>
              <a:t>financial losses</a:t>
            </a:r>
            <a:r>
              <a:rPr lang="en-US" dirty="0"/>
              <a:t>,</a:t>
            </a:r>
          </a:p>
          <a:p>
            <a:r>
              <a:rPr lang="en-US" dirty="0"/>
              <a:t>Improve </a:t>
            </a:r>
            <a:r>
              <a:rPr lang="en-US" b="1" dirty="0"/>
              <a:t>risk management</a:t>
            </a:r>
            <a:r>
              <a:rPr lang="en-US" dirty="0"/>
              <a:t>, and</a:t>
            </a:r>
          </a:p>
          <a:p>
            <a:r>
              <a:rPr lang="en-US" dirty="0"/>
              <a:t>Ensure safer and more responsible lending practices.</a:t>
            </a:r>
          </a:p>
          <a:p>
            <a:r>
              <a:rPr lang="en-US" dirty="0"/>
              <a:t>With the growing availability of financial data, machine learning offers an efficient way to analyze borrower behavior and predict defaults with high accuracy.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main objective of this project is to use machine learning to identify patterns in borrower data and predict whether a customer will default.</a:t>
            </a:r>
          </a:p>
          <a:p>
            <a:r>
              <a:rPr lang="en-US" dirty="0"/>
              <a:t>The goals include:</a:t>
            </a:r>
          </a:p>
          <a:p>
            <a:r>
              <a:rPr lang="en-US" dirty="0"/>
              <a:t>Building a clean and well-structured dataset for analysis.</a:t>
            </a:r>
          </a:p>
          <a:p>
            <a:r>
              <a:rPr lang="en-US" dirty="0"/>
              <a:t>Performing feature engineering to capture financial stress indicators.</a:t>
            </a:r>
          </a:p>
          <a:p>
            <a:r>
              <a:rPr lang="en-US" dirty="0"/>
              <a:t>Training multiple machine learning models and comparing their performance.</a:t>
            </a:r>
          </a:p>
          <a:p>
            <a:r>
              <a:rPr lang="en-US" dirty="0"/>
              <a:t>Deploying a final model into a simple </a:t>
            </a:r>
            <a:r>
              <a:rPr lang="en-US" b="1" dirty="0" err="1"/>
              <a:t>Streamlit</a:t>
            </a:r>
            <a:r>
              <a:rPr lang="en-US" b="1" dirty="0"/>
              <a:t> application</a:t>
            </a:r>
            <a:r>
              <a:rPr lang="en-US" dirty="0"/>
              <a:t> for real-time predictions.</a:t>
            </a:r>
          </a:p>
          <a:p>
            <a:r>
              <a:rPr lang="en-US" dirty="0"/>
              <a:t>This combines data exploration, modeling, evaluation, and deployment in a full end-to-end data science workflow.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dataset used in this project is named </a:t>
            </a:r>
            <a:r>
              <a:rPr lang="en-US" b="1" dirty="0" err="1"/>
              <a:t>Loan_Default_Data.csv</a:t>
            </a:r>
            <a:r>
              <a:rPr lang="en-US" dirty="0"/>
              <a:t>, and it contains </a:t>
            </a:r>
            <a:r>
              <a:rPr lang="en-US" b="1" dirty="0"/>
              <a:t>255,000 rows and 17 columns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includes borrower information such as:</a:t>
            </a:r>
          </a:p>
          <a:p>
            <a:r>
              <a:rPr lang="en-US" b="1" dirty="0"/>
              <a:t>Income</a:t>
            </a:r>
            <a:r>
              <a:rPr lang="en-US" dirty="0"/>
              <a:t>,</a:t>
            </a:r>
          </a:p>
          <a:p>
            <a:r>
              <a:rPr lang="en-US" b="1" dirty="0"/>
              <a:t>Credit Score</a:t>
            </a:r>
            <a:r>
              <a:rPr lang="en-US" dirty="0"/>
              <a:t>,</a:t>
            </a:r>
          </a:p>
          <a:p>
            <a:r>
              <a:rPr lang="en-US" b="1" dirty="0"/>
              <a:t>Loan Amount</a:t>
            </a:r>
            <a:r>
              <a:rPr lang="en-US" dirty="0"/>
              <a:t>,</a:t>
            </a:r>
          </a:p>
          <a:p>
            <a:r>
              <a:rPr lang="en-US" b="1" dirty="0"/>
              <a:t>DTI Ratio</a:t>
            </a:r>
            <a:r>
              <a:rPr lang="en-US" dirty="0"/>
              <a:t>,</a:t>
            </a:r>
          </a:p>
          <a:p>
            <a:r>
              <a:rPr lang="en-US" b="1" dirty="0"/>
              <a:t>Interest Rate</a:t>
            </a:r>
            <a:r>
              <a:rPr lang="en-US" dirty="0"/>
              <a:t>, and more.</a:t>
            </a:r>
          </a:p>
          <a:p>
            <a:r>
              <a:rPr lang="en-US" dirty="0"/>
              <a:t>I also created several </a:t>
            </a:r>
            <a:r>
              <a:rPr lang="en-US" b="1" dirty="0"/>
              <a:t>feature engineering variables</a:t>
            </a:r>
            <a:r>
              <a:rPr lang="en-US" dirty="0"/>
              <a:t> such as:</a:t>
            </a:r>
          </a:p>
          <a:p>
            <a:r>
              <a:rPr lang="en-US" dirty="0" err="1"/>
              <a:t>Loan_to_Income_Ratio</a:t>
            </a:r>
            <a:endParaRPr lang="en-US" dirty="0"/>
          </a:p>
          <a:p>
            <a:r>
              <a:rPr lang="en-US" dirty="0" err="1"/>
              <a:t>FinancialStress</a:t>
            </a:r>
            <a:endParaRPr lang="en-US" dirty="0"/>
          </a:p>
          <a:p>
            <a:r>
              <a:rPr lang="en-US" dirty="0" err="1"/>
              <a:t>EmploymentStability</a:t>
            </a:r>
            <a:endParaRPr lang="en-US" dirty="0"/>
          </a:p>
          <a:p>
            <a:r>
              <a:rPr lang="en-US" dirty="0" err="1"/>
              <a:t>LoanBurden</a:t>
            </a:r>
            <a:endParaRPr lang="en-US" dirty="0"/>
          </a:p>
          <a:p>
            <a:r>
              <a:rPr lang="en-US" dirty="0" err="1"/>
              <a:t>CombinedIncome</a:t>
            </a:r>
            <a:endParaRPr lang="en-US" dirty="0"/>
          </a:p>
          <a:p>
            <a:r>
              <a:rPr lang="en-US" dirty="0"/>
              <a:t>These engineered features help capture financial behavior more accurately than the raw variables.</a:t>
            </a:r>
          </a:p>
          <a:p>
            <a:r>
              <a:rPr lang="en-US" dirty="0"/>
              <a:t>The target variable is </a:t>
            </a:r>
            <a:r>
              <a:rPr lang="en-US" b="1" dirty="0"/>
              <a:t>Default</a:t>
            </a:r>
            <a:r>
              <a:rPr lang="en-US" dirty="0"/>
              <a:t>, where:</a:t>
            </a:r>
          </a:p>
          <a:p>
            <a:r>
              <a:rPr lang="en-US" dirty="0"/>
              <a:t>0 = Repaid</a:t>
            </a:r>
          </a:p>
          <a:p>
            <a:r>
              <a:rPr lang="en-US" dirty="0"/>
              <a:t>1 = Defaulted</a:t>
            </a:r>
          </a:p>
          <a:p>
            <a:r>
              <a:rPr lang="en-US" dirty="0"/>
              <a:t>This is a classic </a:t>
            </a:r>
            <a:r>
              <a:rPr lang="en-US" b="1" dirty="0"/>
              <a:t>binary classification problem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Before building machine learning models, the data had to be cleaned and transformed.</a:t>
            </a:r>
          </a:p>
          <a:p>
            <a:r>
              <a:rPr lang="en-US" dirty="0"/>
              <a:t>Steps included:</a:t>
            </a:r>
          </a:p>
          <a:p>
            <a:r>
              <a:rPr lang="en-US" dirty="0"/>
              <a:t>Handling missing values using median and mode imputation.</a:t>
            </a:r>
          </a:p>
          <a:p>
            <a:r>
              <a:rPr lang="en-US" dirty="0"/>
              <a:t>Encoding categorical variables using label encoding.</a:t>
            </a:r>
          </a:p>
          <a:p>
            <a:r>
              <a:rPr lang="en-US" dirty="0"/>
              <a:t>Detecting and removing infinite values caused by divisions during feature engineering.</a:t>
            </a:r>
          </a:p>
          <a:p>
            <a:r>
              <a:rPr lang="en-US" dirty="0"/>
              <a:t>Scaling numerical features to bring them onto a similar range.</a:t>
            </a:r>
          </a:p>
          <a:p>
            <a:r>
              <a:rPr lang="en-US" dirty="0"/>
              <a:t>Finally, the dataset was split into training and testing sets for model evaluation.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One of the first things observed during EDA was a </a:t>
            </a:r>
            <a:r>
              <a:rPr lang="en-US" b="1" dirty="0"/>
              <a:t>strong class imbalance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Most borrowers repaid their loans, and only about </a:t>
            </a:r>
            <a:r>
              <a:rPr lang="en-US" b="1" dirty="0"/>
              <a:t>13% defaulted</a:t>
            </a:r>
            <a:r>
              <a:rPr lang="en-US" dirty="0"/>
              <a:t>.</a:t>
            </a:r>
          </a:p>
          <a:p>
            <a:r>
              <a:rPr lang="en-US" dirty="0"/>
              <a:t>This imbalance can impact predictions because the model may learn to always predict “repaid”.</a:t>
            </a:r>
            <a:br>
              <a:rPr lang="en-US" dirty="0"/>
            </a:br>
            <a:r>
              <a:rPr lang="en-US" dirty="0"/>
              <a:t>Although techniques like SMOTE can correct imbalance, I chose not to apply SMOTE because it can distort financial risk patterns in large synthetic datasets.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histogram shows the </a:t>
            </a:r>
            <a:r>
              <a:rPr lang="en-US" b="1" dirty="0"/>
              <a:t>distribution of loan amounts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distribution is very smooth and uniform, which indicates that the dataset is likely </a:t>
            </a:r>
            <a:r>
              <a:rPr lang="en-US" b="1" dirty="0"/>
              <a:t>synthetically generated</a:t>
            </a:r>
            <a:r>
              <a:rPr lang="en-US" dirty="0"/>
              <a:t>—common in large-scale simulation datasets used for model training.</a:t>
            </a:r>
          </a:p>
          <a:p>
            <a:r>
              <a:rPr lang="en-US" dirty="0"/>
              <a:t>Even though synthetic, the dataset still preserves realistic relationships among financial variables.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correlation heatmap visualizes relationships among all numerical features.</a:t>
            </a:r>
          </a:p>
          <a:p>
            <a:r>
              <a:rPr lang="en-US" dirty="0"/>
              <a:t>Some important findings:</a:t>
            </a:r>
          </a:p>
          <a:p>
            <a:r>
              <a:rPr lang="en-US" b="1" dirty="0"/>
              <a:t>Credit Score</a:t>
            </a:r>
            <a:r>
              <a:rPr lang="en-US" dirty="0"/>
              <a:t> and </a:t>
            </a:r>
            <a:r>
              <a:rPr lang="en-US" b="1" dirty="0"/>
              <a:t>Income</a:t>
            </a:r>
            <a:r>
              <a:rPr lang="en-US" dirty="0"/>
              <a:t> are moderately negatively correlated with default, meaning lower scores or lower income increase default risk.</a:t>
            </a:r>
          </a:p>
          <a:p>
            <a:r>
              <a:rPr lang="en-US" b="1" dirty="0"/>
              <a:t>Loan-to-Income Ratio</a:t>
            </a:r>
            <a:r>
              <a:rPr lang="en-US" dirty="0"/>
              <a:t> and </a:t>
            </a:r>
            <a:r>
              <a:rPr lang="en-US" b="1" dirty="0"/>
              <a:t>DTI Ratio</a:t>
            </a:r>
            <a:r>
              <a:rPr lang="en-US" dirty="0"/>
              <a:t> show positive correlation with default.</a:t>
            </a:r>
          </a:p>
          <a:p>
            <a:r>
              <a:rPr lang="en-US" dirty="0"/>
              <a:t>Engineered features like </a:t>
            </a:r>
            <a:r>
              <a:rPr lang="en-US" b="1" dirty="0" err="1"/>
              <a:t>LoanBurden</a:t>
            </a:r>
            <a:r>
              <a:rPr lang="en-US" dirty="0"/>
              <a:t> and </a:t>
            </a:r>
            <a:r>
              <a:rPr lang="en-US" b="1" dirty="0" err="1"/>
              <a:t>FinancialStress</a:t>
            </a:r>
            <a:r>
              <a:rPr lang="en-US" dirty="0"/>
              <a:t> show strong relationships with each other, confirming that they effectively capture borrower risk.</a:t>
            </a:r>
          </a:p>
          <a:p>
            <a:r>
              <a:rPr lang="en-US" dirty="0"/>
              <a:t>This correlation analysis helps identify which variables may contribute most to prediction.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313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Here, we compare borrower income levels between repaid and default cases.</a:t>
            </a:r>
          </a:p>
          <a:p>
            <a:r>
              <a:rPr lang="en-US" dirty="0"/>
              <a:t>Borrowers who defaulted tend to have </a:t>
            </a:r>
            <a:r>
              <a:rPr lang="en-US" b="1" dirty="0"/>
              <a:t>lower incomes</a:t>
            </a:r>
            <a:r>
              <a:rPr lang="en-US" dirty="0"/>
              <a:t>, while those who repaid generally earn more.</a:t>
            </a:r>
            <a:br>
              <a:rPr lang="en-US" dirty="0"/>
            </a:br>
            <a:r>
              <a:rPr lang="en-US" dirty="0"/>
              <a:t>This suggests income stability is a strong factor in determining repayment capability.</a:t>
            </a:r>
          </a:p>
          <a:p>
            <a:br>
              <a:rPr lang="en-US" dirty="0"/>
            </a:br>
            <a:r>
              <a:rPr lang="en-US" dirty="0"/>
              <a:t>This chart compares loan amounts between repaid and defaulted borrowers.</a:t>
            </a:r>
          </a:p>
          <a:p>
            <a:r>
              <a:rPr lang="en-US" dirty="0"/>
              <a:t>Borrowers with </a:t>
            </a:r>
            <a:r>
              <a:rPr lang="en-US" b="1" dirty="0"/>
              <a:t>larger loan amounts</a:t>
            </a:r>
            <a:r>
              <a:rPr lang="en-US" dirty="0"/>
              <a:t> show a noticeably higher risk of default.</a:t>
            </a:r>
            <a:br>
              <a:rPr lang="en-US" dirty="0"/>
            </a:br>
            <a:r>
              <a:rPr lang="en-US" dirty="0"/>
              <a:t>This aligns with expectations—larger financial commitments may increase repayment difficulty.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 trained three machine learning models on this dataset:</a:t>
            </a:r>
          </a:p>
          <a:p>
            <a:r>
              <a:rPr lang="en-US" b="1" dirty="0"/>
              <a:t>Random Forest Classifier</a:t>
            </a:r>
            <a:endParaRPr lang="en-US" dirty="0"/>
          </a:p>
          <a:p>
            <a:r>
              <a:rPr lang="en-US" b="1" dirty="0"/>
              <a:t>Decision Tree Classifier</a:t>
            </a:r>
            <a:endParaRPr lang="en-US" dirty="0"/>
          </a:p>
          <a:p>
            <a:r>
              <a:rPr lang="en-US" b="1" dirty="0" err="1"/>
              <a:t>XGBoost</a:t>
            </a:r>
            <a:r>
              <a:rPr lang="en-US" b="1" dirty="0"/>
              <a:t> Classifier</a:t>
            </a:r>
            <a:endParaRPr lang="en-US" dirty="0"/>
          </a:p>
          <a:p>
            <a:r>
              <a:rPr lang="en-US" dirty="0"/>
              <a:t>These models were chosen because they handle nonlinear relationships well and perform strongly on tabular financial data.</a:t>
            </a:r>
          </a:p>
          <a:p>
            <a:r>
              <a:rPr lang="en-US" dirty="0"/>
              <a:t>Each model was trained using a pipeline that included preprocessing and scaling to ensure consistency and prevent data leakage.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“Random Forest provided decent accuracy but struggled with identifying default cases because of the strong class imbalance.</a:t>
            </a:r>
            <a:br>
              <a:rPr lang="en-US" dirty="0"/>
            </a:br>
            <a:r>
              <a:rPr lang="en-US" dirty="0"/>
              <a:t>The recall for the default class remained relatively low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“The Decision Tree model was simple and interpretable, but it also suffered from the data imbalance, resulting in weak performance in detecting actual defaults</a:t>
            </a:r>
            <a:endParaRPr dirty="0"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. </a:t>
            </a:r>
            <a:r>
              <a:rPr lang="en-US" dirty="0" err="1"/>
              <a:t>XGBoost</a:t>
            </a:r>
            <a:r>
              <a:rPr lang="en-US" dirty="0"/>
              <a:t> performed the best among the models.</a:t>
            </a:r>
            <a:br>
              <a:rPr lang="en-US" dirty="0"/>
            </a:br>
            <a:r>
              <a:rPr lang="en-US" dirty="0"/>
              <a:t>It captured more patterns from the engineered features and provided improved recall for default predictions.</a:t>
            </a:r>
            <a:br>
              <a:rPr lang="en-US" dirty="0"/>
            </a:br>
            <a:r>
              <a:rPr lang="en-US" dirty="0"/>
              <a:t>Although the scores were not perfect due to the imbalance, this model showed the most promise.”</a:t>
            </a:r>
            <a:endParaRPr dirty="0"/>
          </a:p>
        </p:txBody>
      </p:sp>
      <p:sp>
        <p:nvSpPr>
          <p:cNvPr id="239" name="Google Shape;2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To make the model usable, I deployed it as a </a:t>
            </a:r>
            <a:r>
              <a:rPr lang="en-US" b="1" dirty="0" err="1"/>
              <a:t>Streamlit</a:t>
            </a:r>
            <a:r>
              <a:rPr lang="en-US" b="1" dirty="0"/>
              <a:t> web application</a:t>
            </a:r>
            <a:r>
              <a:rPr lang="en-US" dirty="0"/>
              <a:t>.</a:t>
            </a:r>
          </a:p>
          <a:p>
            <a:r>
              <a:rPr lang="en-US" dirty="0"/>
              <a:t>The app allows users to input borrower information such as income, credit score, loan amount, and other features.</a:t>
            </a:r>
            <a:br>
              <a:rPr lang="en-US" dirty="0"/>
            </a:br>
            <a:r>
              <a:rPr lang="en-US" dirty="0"/>
              <a:t>The model then predicts </a:t>
            </a:r>
            <a:r>
              <a:rPr lang="en-US" b="1" dirty="0"/>
              <a:t>whether the borrower is likely to default</a:t>
            </a:r>
            <a:r>
              <a:rPr lang="en-US" dirty="0"/>
              <a:t>.</a:t>
            </a:r>
          </a:p>
          <a:p>
            <a:r>
              <a:rPr lang="en-US" dirty="0"/>
              <a:t>This demonstrates how machine learning models can be integrated into real-world financial decision systems.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I successfully built a predictive modeling pipeline for loan default prediction.</a:t>
            </a:r>
          </a:p>
          <a:p>
            <a:r>
              <a:rPr lang="en-US" dirty="0"/>
              <a:t>Performed detailed EDA to understand borrower behavior.</a:t>
            </a:r>
          </a:p>
          <a:p>
            <a:r>
              <a:rPr lang="en-US" dirty="0"/>
              <a:t>Engineered meaningful financial features.</a:t>
            </a:r>
          </a:p>
          <a:p>
            <a:r>
              <a:rPr lang="en-US" dirty="0"/>
              <a:t>Trained and compared multiple machine learning models.</a:t>
            </a:r>
          </a:p>
          <a:p>
            <a:r>
              <a:rPr lang="en-US" dirty="0"/>
              <a:t>Created a functional web application for practical use.</a:t>
            </a:r>
          </a:p>
          <a:p>
            <a:r>
              <a:rPr lang="en-US" dirty="0"/>
              <a:t>This project shows how machine learning can significantly improve the loan assessment process by making it </a:t>
            </a:r>
            <a:r>
              <a:rPr lang="en-US" b="1" dirty="0"/>
              <a:t>faster, data-driven, and more consistent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There are several opportunities to expand this project:</a:t>
            </a:r>
          </a:p>
          <a:p>
            <a:r>
              <a:rPr lang="en-US" dirty="0"/>
              <a:t>Exploring </a:t>
            </a:r>
            <a:r>
              <a:rPr lang="en-US" b="1" dirty="0"/>
              <a:t>deep learning</a:t>
            </a:r>
            <a:r>
              <a:rPr lang="en-US" dirty="0"/>
              <a:t> and ensemble stacking to improve predictive power.</a:t>
            </a:r>
          </a:p>
          <a:p>
            <a:r>
              <a:rPr lang="en-US" dirty="0"/>
              <a:t>Integrating </a:t>
            </a:r>
            <a:r>
              <a:rPr lang="en-US" b="1" dirty="0"/>
              <a:t>real-time financial and behavioral data</a:t>
            </a:r>
            <a:r>
              <a:rPr lang="en-US" dirty="0"/>
              <a:t>, such as transaction history.</a:t>
            </a:r>
          </a:p>
          <a:p>
            <a:r>
              <a:rPr lang="en-US" dirty="0"/>
              <a:t>Using </a:t>
            </a:r>
            <a:r>
              <a:rPr lang="en-US" b="1" dirty="0"/>
              <a:t>Explainable AI techniques</a:t>
            </a:r>
            <a:r>
              <a:rPr lang="en-US" dirty="0"/>
              <a:t> to improve transparency for lenders.</a:t>
            </a:r>
          </a:p>
          <a:p>
            <a:r>
              <a:rPr lang="en-US" dirty="0"/>
              <a:t>Deploying the solution at scale through </a:t>
            </a:r>
            <a:r>
              <a:rPr lang="en-US" b="1" dirty="0"/>
              <a:t>cloud platforms</a:t>
            </a:r>
            <a:r>
              <a:rPr lang="en-US" dirty="0"/>
              <a:t>.</a:t>
            </a:r>
          </a:p>
          <a:p>
            <a:r>
              <a:rPr lang="en-US" dirty="0"/>
              <a:t>These enhancements would help institutions make even better lending decisions.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5" name="Google Shape;2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so much for listening to my presentation.</a:t>
            </a:r>
            <a:endParaRPr dirty="0"/>
          </a:p>
        </p:txBody>
      </p:sp>
      <p:sp>
        <p:nvSpPr>
          <p:cNvPr id="275" name="Google Shape;2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venir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rot="10800000" flipH="1">
            <a:off x="578652" y="4501201"/>
            <a:ext cx="11034696" cy="18288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CFCBCB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venir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6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 rot="10800000" flipH="1">
            <a:off x="578652" y="4501201"/>
            <a:ext cx="11034696" cy="18288"/>
          </a:xfrm>
          <a:prstGeom prst="rect">
            <a:avLst/>
          </a:prstGeom>
          <a:solidFill>
            <a:srgbClr val="BCC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venir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1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2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dt" idx="10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3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 cap="none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body" idx="4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dt" idx="10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venir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dt" idx="10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2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2"/>
          <p:cNvSpPr txBox="1"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venir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>
            <a:spLocks noGrp="1"/>
          </p:cNvSpPr>
          <p:nvPr>
            <p:ph type="pic" idx="2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Google Shape;97;p12"/>
          <p:cNvSpPr txBox="1">
            <a:spLocks noGrp="1"/>
          </p:cNvSpPr>
          <p:nvPr>
            <p:ph type="body" idx="1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dt" idx="10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>
            <a:off x="800100" y="723900"/>
            <a:ext cx="1638300" cy="0"/>
          </a:xfrm>
          <a:prstGeom prst="straightConnector1">
            <a:avLst/>
          </a:prstGeom>
          <a:noFill/>
          <a:ln w="444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9" name="Google Shape;119;p15" descr="Calculator, pen, compass, money and a paper with graphs printed on it"/>
          <p:cNvPicPr preferRelativeResize="0"/>
          <p:nvPr/>
        </p:nvPicPr>
        <p:blipFill rotWithShape="1">
          <a:blip r:embed="rId3">
            <a:alphaModFix/>
          </a:blip>
          <a:srcRect b="6639"/>
          <a:stretch/>
        </p:blipFill>
        <p:spPr>
          <a:xfrm>
            <a:off x="0" y="10"/>
            <a:ext cx="12191979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/>
          <p:nvPr/>
        </p:nvSpPr>
        <p:spPr>
          <a:xfrm rot="5400000">
            <a:off x="166956" y="-166968"/>
            <a:ext cx="6858002" cy="719191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37647"/>
                </a:srgbClr>
              </a:gs>
              <a:gs pos="46000">
                <a:srgbClr val="000000">
                  <a:alpha val="54901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1" name="Google Shape;121;p15"/>
          <p:cNvSpPr txBox="1">
            <a:spLocks noGrp="1"/>
          </p:cNvSpPr>
          <p:nvPr>
            <p:ph type="ctrTitle"/>
          </p:nvPr>
        </p:nvSpPr>
        <p:spPr>
          <a:xfrm>
            <a:off x="465262" y="2583729"/>
            <a:ext cx="6031232" cy="152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venir"/>
              <a:buNone/>
            </a:pPr>
            <a:r>
              <a:rPr lang="en-US" sz="4400" b="1" dirty="0"/>
              <a:t>Loan default Prediction</a:t>
            </a:r>
            <a:endParaRPr dirty="0"/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1"/>
          </p:nvPr>
        </p:nvSpPr>
        <p:spPr>
          <a:xfrm>
            <a:off x="475488" y="4807617"/>
            <a:ext cx="3977640" cy="1114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 dirty="0"/>
              <a:t>Reddy Sai Reddy Duggireddy</a:t>
            </a:r>
            <a:endParaRPr dirty="0"/>
          </a:p>
          <a:p>
            <a:pPr marL="0" lvl="0" indent="0" algn="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 sz="1800" dirty="0"/>
              <a:t>KJ42777</a:t>
            </a:r>
          </a:p>
          <a:p>
            <a:pPr marL="0" lvl="0" indent="0" algn="r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 dirty="0"/>
          </a:p>
        </p:txBody>
      </p:sp>
      <p:sp>
        <p:nvSpPr>
          <p:cNvPr id="123" name="Google Shape;123;p15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Overview and Importance</a:t>
            </a:r>
            <a:endParaRPr dirty="0"/>
          </a:p>
        </p:txBody>
      </p:sp>
      <p:sp>
        <p:nvSpPr>
          <p:cNvPr id="131" name="Google Shape;131;p16"/>
          <p:cNvSpPr/>
          <p:nvPr/>
        </p:nvSpPr>
        <p:spPr>
          <a:xfrm>
            <a:off x="1027317" y="1634502"/>
            <a:ext cx="10451592" cy="9144"/>
          </a:xfrm>
          <a:prstGeom prst="rect">
            <a:avLst/>
          </a:prstGeom>
          <a:solidFill>
            <a:srgbClr val="595959">
              <a:alpha val="29803"/>
            </a:srgbClr>
          </a:solidFill>
          <a:ln w="9525" cap="flat" cmpd="sng">
            <a:solidFill>
              <a:srgbClr val="595959">
                <a:alpha val="2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 rot="10800000" flipH="1">
            <a:off x="839021" y="1588739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6"/>
          <p:cNvGrpSpPr/>
          <p:nvPr/>
        </p:nvGrpSpPr>
        <p:grpSpPr>
          <a:xfrm>
            <a:off x="839021" y="2108707"/>
            <a:ext cx="10513956" cy="4310022"/>
            <a:chOff x="821" y="182441"/>
            <a:chExt cx="10513956" cy="4310022"/>
          </a:xfrm>
        </p:grpSpPr>
        <p:sp>
          <p:nvSpPr>
            <p:cNvPr id="134" name="Google Shape;134;p16"/>
            <p:cNvSpPr/>
            <p:nvPr/>
          </p:nvSpPr>
          <p:spPr>
            <a:xfrm>
              <a:off x="821" y="182441"/>
              <a:ext cx="3327201" cy="3992641"/>
            </a:xfrm>
            <a:prstGeom prst="rect">
              <a:avLst/>
            </a:prstGeom>
            <a:solidFill>
              <a:srgbClr val="599BD5"/>
            </a:solidFill>
            <a:ln w="12700" cap="flat" cmpd="sng">
              <a:solidFill>
                <a:srgbClr val="599BD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821" y="1502734"/>
              <a:ext cx="3327201" cy="29897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8650" tIns="0" rIns="328650" bIns="3302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Times New Roman"/>
                <a:buNone/>
              </a:pPr>
              <a:r>
                <a:rPr lang="en-US" sz="25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Utilizing machine learning techniques to predict loan </a:t>
              </a:r>
              <a:r>
                <a:rPr lang="en-US" sz="2500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default risk</a:t>
              </a:r>
              <a:r>
                <a:rPr lang="en-US" sz="25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based on </a:t>
              </a:r>
              <a:r>
                <a:rPr lang="en-US" sz="2500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borrower financial and demographic feature</a:t>
              </a:r>
              <a:r>
                <a:rPr lang="en-US" sz="2500" b="0" i="0" u="none" strike="noStrike" cap="none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2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821" y="182441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821" y="182441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8650" tIns="165100" rIns="32865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Avenir"/>
                <a:buNone/>
              </a:pPr>
              <a:r>
                <a:rPr lang="en-US" sz="6600" b="0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01</a:t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3594199" y="182441"/>
              <a:ext cx="3327201" cy="3992641"/>
            </a:xfrm>
            <a:prstGeom prst="rect">
              <a:avLst/>
            </a:prstGeom>
            <a:solidFill>
              <a:srgbClr val="4CC38C"/>
            </a:solidFill>
            <a:ln w="12700" cap="flat" cmpd="sng">
              <a:solidFill>
                <a:srgbClr val="4CC38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3594199" y="1502735"/>
              <a:ext cx="3327201" cy="2672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8650" tIns="0" rIns="328650" bIns="330200" anchor="t" anchorCtr="0">
              <a:noAutofit/>
            </a:bodyPr>
            <a:lstStyle/>
            <a:p>
              <a:pPr lvl="0">
                <a:buClr>
                  <a:schemeClr val="lt1"/>
                </a:buClr>
                <a:buSzPts val="2500"/>
              </a:pPr>
              <a:r>
                <a:rPr lang="en-US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Enables financial institutions to predict loan defaults early, helping reduce credit risk and prevent potential losses.</a:t>
              </a:r>
              <a:endParaRPr sz="2500" b="0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3594199" y="182441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3594199" y="182441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8650" tIns="165100" rIns="32865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Avenir"/>
                <a:buNone/>
              </a:pPr>
              <a:r>
                <a:rPr lang="en-US" sz="6600" b="0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02</a:t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7187576" y="182441"/>
              <a:ext cx="3327201" cy="3992641"/>
            </a:xfrm>
            <a:prstGeom prst="rect">
              <a:avLst/>
            </a:prstGeom>
            <a:solidFill>
              <a:srgbClr val="6FAB46"/>
            </a:solidFill>
            <a:ln w="12700" cap="flat" cmpd="sng">
              <a:solidFill>
                <a:srgbClr val="6FAB4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7187576" y="1502735"/>
              <a:ext cx="3327201" cy="26723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8650" tIns="0" rIns="328650" bIns="330200" anchor="t" anchorCtr="0">
              <a:noAutofit/>
            </a:bodyPr>
            <a:lstStyle/>
            <a:p>
              <a:pPr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n-US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Promotes data-driven lending decisions that enhance fairness, transparency, and financial stability for both lenders and borrowers</a:t>
              </a:r>
              <a:r>
                <a:rPr lang="en-US" sz="2800" dirty="0"/>
                <a:t>.</a:t>
              </a: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Times New Roman"/>
                <a:buNone/>
              </a:pPr>
              <a:endParaRPr sz="2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7187576" y="182441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7187576" y="239146"/>
              <a:ext cx="3327201" cy="15970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28650" tIns="165100" rIns="328650" bIns="16510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600"/>
                <a:buFont typeface="Avenir"/>
                <a:buNone/>
              </a:pPr>
              <a:r>
                <a:rPr lang="en-US" sz="6600" b="0" i="0" u="none" strike="noStrike" cap="non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03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Objectives and Goals</a:t>
            </a:r>
            <a:endParaRPr/>
          </a:p>
        </p:txBody>
      </p:sp>
      <p:grpSp>
        <p:nvGrpSpPr>
          <p:cNvPr id="151" name="Google Shape;151;p17"/>
          <p:cNvGrpSpPr/>
          <p:nvPr/>
        </p:nvGrpSpPr>
        <p:grpSpPr>
          <a:xfrm>
            <a:off x="1506219" y="1998133"/>
            <a:ext cx="9401921" cy="4311227"/>
            <a:chOff x="390651" y="215853"/>
            <a:chExt cx="9401921" cy="3563038"/>
          </a:xfrm>
        </p:grpSpPr>
        <p:sp>
          <p:nvSpPr>
            <p:cNvPr id="152" name="Google Shape;152;p17"/>
            <p:cNvSpPr/>
            <p:nvPr/>
          </p:nvSpPr>
          <p:spPr>
            <a:xfrm>
              <a:off x="1793280" y="215853"/>
              <a:ext cx="1510523" cy="133400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390651" y="1690141"/>
              <a:ext cx="4315781" cy="571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390651" y="1690141"/>
              <a:ext cx="4315781" cy="571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venir"/>
                <a:buNone/>
              </a:pPr>
              <a:r>
                <a:rPr lang="en-US" sz="3600" b="1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Objective: </a:t>
              </a:r>
              <a:endParaRPr dirty="0"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390651" y="2327105"/>
              <a:ext cx="4315781" cy="1151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390651" y="2327105"/>
              <a:ext cx="4315781" cy="14517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>
                <a:buClr>
                  <a:schemeClr val="dk1"/>
                </a:buClr>
                <a:buSzPts val="1700"/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Developed a  machine learning-based system  to predict loan default risk based on borrower financial and demographic features, and behavioral data .The mode helps financial institutions make data-driven and objective credit decision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endParaRPr dirty="0"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6864323" y="215853"/>
              <a:ext cx="1510523" cy="133400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5461694" y="1690141"/>
              <a:ext cx="4315781" cy="571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5461694" y="1690141"/>
              <a:ext cx="4315781" cy="5717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venir"/>
                <a:buNone/>
              </a:pPr>
              <a:r>
                <a:rPr lang="en-US" sz="3600" b="1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Goals:</a:t>
              </a:r>
              <a:endParaRPr dirty="0"/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5461694" y="2327105"/>
              <a:ext cx="4315781" cy="11512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5476791" y="2327105"/>
              <a:ext cx="4315781" cy="14517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lang="en-US" sz="17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Avenir"/>
                  <a:cs typeface="Times New Roman" panose="02020603050405020304" pitchFamily="18" charset="0"/>
                  <a:sym typeface="Avenir"/>
                </a:rPr>
                <a:t>Optimize decision-making processes for financial institutions.</a:t>
              </a:r>
              <a:endParaRPr sz="1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lang="en-US" sz="17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Avenir"/>
                  <a:cs typeface="Times New Roman" panose="02020603050405020304" pitchFamily="18" charset="0"/>
                  <a:sym typeface="Avenir"/>
                </a:rPr>
                <a:t>Minimize defaults and maximize resource allocation efficiency.</a:t>
              </a:r>
              <a:endParaRPr sz="17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Avenir"/>
                <a:cs typeface="Times New Roman" panose="02020603050405020304" pitchFamily="18" charset="0"/>
                <a:sym typeface="Aveni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59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venir"/>
                <a:buNone/>
              </a:pPr>
              <a:r>
                <a:rPr lang="en-US" sz="1700" b="0" i="0" u="none" strike="noStrike" cap="none" dirty="0">
                  <a:solidFill>
                    <a:schemeClr val="dk1"/>
                  </a:solidFill>
                  <a:latin typeface="Times New Roman" panose="02020603050405020304" pitchFamily="18" charset="0"/>
                  <a:ea typeface="Avenir"/>
                  <a:cs typeface="Times New Roman" panose="02020603050405020304" pitchFamily="18" charset="0"/>
                  <a:sym typeface="Avenir"/>
                </a:rPr>
                <a:t>Enhance overall financial stability and customer satisfaction</a:t>
              </a:r>
              <a:r>
                <a:rPr lang="en-US" sz="1700" b="0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.</a:t>
              </a:r>
              <a:endParaRPr sz="170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lang="en-US" sz="3400" b="1" dirty="0">
                <a:latin typeface="Times New Roman"/>
                <a:ea typeface="Times New Roman"/>
                <a:cs typeface="Times New Roman"/>
                <a:sym typeface="Times New Roman"/>
              </a:rPr>
              <a:t>Data Exploration</a:t>
            </a:r>
            <a:endParaRPr dirty="0"/>
          </a:p>
        </p:txBody>
      </p:sp>
      <p:sp>
        <p:nvSpPr>
          <p:cNvPr id="168" name="Google Shape;168;p18"/>
          <p:cNvSpPr/>
          <p:nvPr/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BCC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body" idx="1"/>
          </p:nvPr>
        </p:nvSpPr>
        <p:spPr>
          <a:xfrm>
            <a:off x="411478" y="2688336"/>
            <a:ext cx="4688841" cy="358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228600" lvl="0" indent="-228600">
              <a:spcBef>
                <a:spcPts val="0"/>
              </a:spcBef>
              <a:buSzPts val="1700"/>
            </a:pP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Datasets: Loan_Default_Data.csv: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	255,000 rows and 17 columns</a:t>
            </a:r>
          </a:p>
          <a:p>
            <a:pPr marL="285750" lvl="0" indent="-2857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  <a:sym typeface="Times New Roman"/>
              </a:rPr>
              <a:t>Columns include income, credit score , loan amount, DTI ratio, and interest rate, among others</a:t>
            </a:r>
          </a:p>
          <a:p>
            <a:pPr marL="285750" lvl="0" indent="-2857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  <a:sym typeface="Times New Roman"/>
              </a:rPr>
              <a:t>Several feature engineering variables were created , such as </a:t>
            </a:r>
          </a:p>
          <a:p>
            <a:pPr marL="285750" lvl="0" indent="-2857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  <a:sym typeface="Times New Roman"/>
              </a:rPr>
              <a:t>Loan_to_Income_Ratio, FinancialStress , Employment Stability, etc.</a:t>
            </a:r>
          </a:p>
          <a:p>
            <a:pPr marL="285750" lvl="0" indent="-28575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  <a:sym typeface="Times New Roman"/>
              </a:rPr>
              <a:t>The target variable is ‘Default’-</a:t>
            </a: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dirty="0">
                <a:latin typeface="Times New Roman"/>
                <a:cs typeface="Times New Roman"/>
                <a:sym typeface="Times New Roman"/>
              </a:rPr>
              <a:t>       0 = Repaid</a:t>
            </a: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dirty="0">
                <a:latin typeface="Times New Roman"/>
                <a:cs typeface="Times New Roman"/>
                <a:sym typeface="Times New Roman"/>
              </a:rPr>
              <a:t>       1 = Defaulted</a:t>
            </a:r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lang="en-US"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 sz="1700" dirty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dirty="0"/>
          </a:p>
        </p:txBody>
      </p:sp>
      <p:pic>
        <p:nvPicPr>
          <p:cNvPr id="171" name="Google Shape;171;p18" descr="3D box skeletons"/>
          <p:cNvPicPr preferRelativeResize="0"/>
          <p:nvPr/>
        </p:nvPicPr>
        <p:blipFill rotWithShape="1">
          <a:blip r:embed="rId3">
            <a:alphaModFix/>
          </a:blip>
          <a:srcRect l="18215" r="14782" b="-1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 extrusionOk="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ln>
            <a:noFill/>
          </a:ln>
          <a:effectLst>
            <a:outerShdw blurRad="50800" dist="38100" dir="10800000" algn="r" rotWithShape="0">
              <a:srgbClr val="D8D8D8">
                <a:alpha val="29803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venir"/>
              <a:buNone/>
            </a:pPr>
            <a:r>
              <a:rPr lang="en-US" b="1"/>
              <a:t>Data Preprocessing</a:t>
            </a:r>
            <a:endParaRPr/>
          </a:p>
        </p:txBody>
      </p:sp>
      <p:grpSp>
        <p:nvGrpSpPr>
          <p:cNvPr id="177" name="Google Shape;177;p19"/>
          <p:cNvGrpSpPr/>
          <p:nvPr/>
        </p:nvGrpSpPr>
        <p:grpSpPr>
          <a:xfrm>
            <a:off x="1115568" y="2479178"/>
            <a:ext cx="10168127" cy="3691866"/>
            <a:chOff x="0" y="1154"/>
            <a:chExt cx="10168127" cy="3691866"/>
          </a:xfrm>
        </p:grpSpPr>
        <p:sp>
          <p:nvSpPr>
            <p:cNvPr id="178" name="Google Shape;178;p19"/>
            <p:cNvSpPr/>
            <p:nvPr/>
          </p:nvSpPr>
          <p:spPr>
            <a:xfrm>
              <a:off x="2033625" y="1154"/>
              <a:ext cx="8134502" cy="1183290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9"/>
            <p:cNvSpPr txBox="1"/>
            <p:nvPr/>
          </p:nvSpPr>
          <p:spPr>
            <a:xfrm>
              <a:off x="2033625" y="1154"/>
              <a:ext cx="8134502" cy="118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825" tIns="300550" rIns="157825" bIns="300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venir"/>
                <a:buNone/>
              </a:pPr>
              <a:r>
                <a:rPr lang="en-US" sz="1800" b="0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Missing values were imputed using the mode(most frequent value) for categorical values and median for numerical values. </a:t>
              </a:r>
              <a:endParaRPr dirty="0"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0" y="1154"/>
              <a:ext cx="2033625" cy="118329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0" y="1154"/>
              <a:ext cx="2033625" cy="118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00" tIns="116875" rIns="107600" bIns="116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venir"/>
                <a:buNone/>
              </a:pPr>
              <a:r>
                <a:rPr lang="en-US" sz="2200" b="0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Handling Missing Values</a:t>
              </a:r>
              <a:endParaRPr dirty="0"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2033625" y="1255442"/>
              <a:ext cx="8134502" cy="1183290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2033625" y="1184444"/>
              <a:ext cx="8134502" cy="118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825" tIns="300550" rIns="157825" bIns="300550" anchor="ctr" anchorCtr="0">
              <a:noAutofit/>
            </a:bodyPr>
            <a:lstStyle/>
            <a:p>
              <a:pPr lvl="0">
                <a:buClr>
                  <a:schemeClr val="lt1"/>
                </a:buClr>
                <a:buSzPts val="1800"/>
              </a:pPr>
              <a:r>
                <a:rPr 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Encoding and One-Hot Encoding to transform categorical features (like</a:t>
              </a:r>
            </a:p>
            <a:p>
              <a:pPr lvl="0">
                <a:buClr>
                  <a:schemeClr val="lt1"/>
                </a:buClr>
                <a:buSzPts val="1800"/>
              </a:pPr>
              <a:r>
                <a:rPr 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HasCoSigner , EmploymentType, etc.) into numeric form for model training.orical.</a:t>
              </a:r>
              <a:endParaRPr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0" y="1255442"/>
              <a:ext cx="2033625" cy="118329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0" y="1255442"/>
              <a:ext cx="2033625" cy="118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00" tIns="116875" rIns="107600" bIns="116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venir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Encoding Categorical Variables</a:t>
              </a:r>
              <a:endParaRPr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2033625" y="2509730"/>
              <a:ext cx="8134502" cy="1183290"/>
            </a:xfrm>
            <a:prstGeom prst="rect">
              <a:avLst/>
            </a:prstGeom>
            <a:solidFill>
              <a:srgbClr val="4372C3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9"/>
            <p:cNvSpPr txBox="1"/>
            <p:nvPr/>
          </p:nvSpPr>
          <p:spPr>
            <a:xfrm>
              <a:off x="2033625" y="2509730"/>
              <a:ext cx="8134502" cy="118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7825" tIns="300550" rIns="157825" bIns="3005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venir"/>
                <a:buNone/>
              </a:pPr>
              <a:r>
                <a:rPr lang="en-US" sz="1800" b="0" i="0" u="none" strike="noStrike" cap="none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Created a new </a:t>
              </a:r>
              <a:r>
                <a:rPr lang="en-US" sz="1800" dirty="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derived features such as ‘Loan_to_Income_Ratio’ , FinancialStress’, ‘EmploymentStability ‘, ‘combinedIncome’.</a:t>
              </a:r>
              <a:endParaRPr dirty="0"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0" y="2509730"/>
              <a:ext cx="2033625" cy="118329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0" y="2509730"/>
              <a:ext cx="2033625" cy="118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600" tIns="116875" rIns="107600" bIns="1168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venir"/>
                <a:buNone/>
              </a:pPr>
              <a:r>
                <a:rPr lang="en-US" sz="2200" b="0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Feature Engineering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 rot="10800000" flipH="1">
            <a:off x="578652" y="4501201"/>
            <a:ext cx="11034696" cy="18288"/>
          </a:xfrm>
          <a:prstGeom prst="rect">
            <a:avLst/>
          </a:prstGeom>
          <a:solidFill>
            <a:srgbClr val="BCC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-78227" y="-78363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97" name="Google Shape;197;p20"/>
          <p:cNvSpPr txBox="1">
            <a:spLocks noGrp="1"/>
          </p:cNvSpPr>
          <p:nvPr>
            <p:ph type="title"/>
          </p:nvPr>
        </p:nvSpPr>
        <p:spPr>
          <a:xfrm>
            <a:off x="838200" y="226061"/>
            <a:ext cx="10515600" cy="109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 New Roman"/>
              <a:buNone/>
            </a:pPr>
            <a:r>
              <a:rPr lang="en-US" sz="5200" b="1" dirty="0">
                <a:latin typeface="Times New Roman"/>
                <a:ea typeface="Times New Roman"/>
                <a:cs typeface="Times New Roman"/>
                <a:sym typeface="Times New Roman"/>
              </a:rPr>
              <a:t>Exploratory Data Analysis(EDA)</a:t>
            </a:r>
            <a:endParaRPr dirty="0"/>
          </a:p>
        </p:txBody>
      </p:sp>
      <p:sp>
        <p:nvSpPr>
          <p:cNvPr id="199" name="Google Shape;199;p20"/>
          <p:cNvSpPr/>
          <p:nvPr/>
        </p:nvSpPr>
        <p:spPr>
          <a:xfrm rot="5400000">
            <a:off x="6041136" y="1859832"/>
            <a:ext cx="109728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blue and red graph&#10;&#10;AI-generated content may be incorrect.">
            <a:extLst>
              <a:ext uri="{FF2B5EF4-FFF2-40B4-BE49-F238E27FC236}">
                <a16:creationId xmlns:a16="http://schemas.microsoft.com/office/drawing/2014/main" id="{D6B3DCA5-403D-1254-994A-DCD2040EF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15" y="1396083"/>
            <a:ext cx="5272422" cy="4210429"/>
          </a:xfrm>
          <a:prstGeom prst="rect">
            <a:avLst/>
          </a:prstGeom>
        </p:spPr>
      </p:pic>
      <p:pic>
        <p:nvPicPr>
          <p:cNvPr id="11" name="Picture 10" descr="A graph of a loan amount&#10;&#10;AI-generated content may be incorrect.">
            <a:extLst>
              <a:ext uri="{FF2B5EF4-FFF2-40B4-BE49-F238E27FC236}">
                <a16:creationId xmlns:a16="http://schemas.microsoft.com/office/drawing/2014/main" id="{C92B58FA-38D4-E6DA-AB52-C7B1DA863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981" y="1396083"/>
            <a:ext cx="5794311" cy="42104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0AE1AC-33FD-2DE0-E680-632C7A4BBB46}"/>
              </a:ext>
            </a:extLst>
          </p:cNvPr>
          <p:cNvSpPr txBox="1"/>
          <p:nvPr/>
        </p:nvSpPr>
        <p:spPr>
          <a:xfrm flipH="1">
            <a:off x="935663" y="5606512"/>
            <a:ext cx="4518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clear class Imbalance in Target Variable.                         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425A37-58A5-8E34-ECDB-25A8E810910F}"/>
              </a:ext>
            </a:extLst>
          </p:cNvPr>
          <p:cNvSpPr txBox="1"/>
          <p:nvPr/>
        </p:nvSpPr>
        <p:spPr>
          <a:xfrm>
            <a:off x="6468390" y="5606512"/>
            <a:ext cx="52808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chart shows the distribution of even loan amounts across all borrowers, indicating that the data has likely been synthetically generated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279DB8-1EBE-2D89-9613-882DEBA6C9CB}"/>
              </a:ext>
            </a:extLst>
          </p:cNvPr>
          <p:cNvSpPr txBox="1"/>
          <p:nvPr/>
        </p:nvSpPr>
        <p:spPr>
          <a:xfrm>
            <a:off x="552894" y="348012"/>
            <a:ext cx="10515600" cy="120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rtlCol="0" anchor="ctr" anchorCtr="0">
            <a:norm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5400"/>
            </a:pPr>
            <a:r>
              <a:rPr lang="en-US" sz="5400" b="0" i="0" u="none" strike="noStrike" cap="none" dirty="0">
                <a:solidFill>
                  <a:schemeClr val="dk1"/>
                </a:solidFill>
              </a:rPr>
              <a:t>Correlation Matrices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608DDB-7061-51DF-B668-B1E9EACDBA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23" r="-2" b="4134"/>
          <a:stretch>
            <a:fillRect/>
          </a:stretch>
        </p:blipFill>
        <p:spPr>
          <a:xfrm>
            <a:off x="838200" y="1573620"/>
            <a:ext cx="5067300" cy="443377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C43E95-ECC0-6F75-73F5-32DD4C9D2B24}"/>
              </a:ext>
            </a:extLst>
          </p:cNvPr>
          <p:cNvSpPr txBox="1"/>
          <p:nvPr/>
        </p:nvSpPr>
        <p:spPr>
          <a:xfrm>
            <a:off x="6286499" y="1881188"/>
            <a:ext cx="5175399" cy="649361"/>
          </a:xfrm>
          <a:prstGeom prst="rect">
            <a:avLst/>
          </a:prstGeom>
          <a:noFill/>
          <a:ln>
            <a:noFill/>
          </a:ln>
        </p:spPr>
        <p:txBody>
          <a:bodyPr rtlCol="0" anchor="t">
            <a:normAutofit fontScale="62500" lnSpcReduction="20000"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heatmap shows relationships among all numerical features.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E5009D-9B00-8596-44C8-F158A2B75AC5}"/>
              </a:ext>
            </a:extLst>
          </p:cNvPr>
          <p:cNvSpPr txBox="1"/>
          <p:nvPr/>
        </p:nvSpPr>
        <p:spPr>
          <a:xfrm>
            <a:off x="6286500" y="2530549"/>
            <a:ext cx="517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see that credit score, income, and loan-to-income ratio are moderately correlated with default risk.</a:t>
            </a:r>
            <a:b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05A8C0-90C3-35FA-F58D-C4C84E3A3535}"/>
              </a:ext>
            </a:extLst>
          </p:cNvPr>
          <p:cNvSpPr txBox="1"/>
          <p:nvPr/>
        </p:nvSpPr>
        <p:spPr>
          <a:xfrm rot="10800000" flipV="1">
            <a:off x="6286500" y="3179910"/>
            <a:ext cx="4781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Also, some engineered features like loan burden and financial stress show strong relationships with each other, confirming that they capture meaningful financial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000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 rot="10800000" flipH="1">
            <a:off x="578652" y="4501201"/>
            <a:ext cx="11034696" cy="18288"/>
          </a:xfrm>
          <a:prstGeom prst="rect">
            <a:avLst/>
          </a:prstGeom>
          <a:solidFill>
            <a:srgbClr val="BCC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0" y="226061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9" name="Google Shape;209;p21"/>
          <p:cNvSpPr txBox="1">
            <a:spLocks noGrp="1"/>
          </p:cNvSpPr>
          <p:nvPr>
            <p:ph type="title"/>
          </p:nvPr>
        </p:nvSpPr>
        <p:spPr>
          <a:xfrm>
            <a:off x="838200" y="226061"/>
            <a:ext cx="10515600" cy="89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venir"/>
              <a:buNone/>
            </a:pPr>
            <a:r>
              <a:rPr lang="en-US" sz="5200" b="1" dirty="0"/>
              <a:t>EDA continued..</a:t>
            </a:r>
            <a:endParaRPr dirty="0"/>
          </a:p>
        </p:txBody>
      </p:sp>
      <p:sp>
        <p:nvSpPr>
          <p:cNvPr id="210" name="Google Shape;210;p21"/>
          <p:cNvSpPr/>
          <p:nvPr/>
        </p:nvSpPr>
        <p:spPr>
          <a:xfrm>
            <a:off x="5858540" y="1474054"/>
            <a:ext cx="5754808" cy="3909892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D8D8D8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 rot="5400000">
            <a:off x="6041136" y="1859832"/>
            <a:ext cx="109728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C9A26A-ADF3-7737-7B40-55E5B781D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91" y="1365121"/>
            <a:ext cx="5883109" cy="40188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FC4E54-A324-22A5-9BE4-84E8E0678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65121"/>
            <a:ext cx="5517348" cy="40188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08745B0-71BD-8A48-B1AB-3A00D1912E04}"/>
              </a:ext>
            </a:extLst>
          </p:cNvPr>
          <p:cNvSpPr txBox="1"/>
          <p:nvPr/>
        </p:nvSpPr>
        <p:spPr>
          <a:xfrm flipH="1">
            <a:off x="578651" y="5626205"/>
            <a:ext cx="7321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we can see how income and loan amount relate to loan defaults.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11C592-3125-BA80-22D9-FB176D21E4A9}"/>
              </a:ext>
            </a:extLst>
          </p:cNvPr>
          <p:cNvSpPr txBox="1"/>
          <p:nvPr/>
        </p:nvSpPr>
        <p:spPr>
          <a:xfrm>
            <a:off x="578652" y="6032653"/>
            <a:ext cx="9543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Borrowers with lower incomes are more likely to default, while those with higher incomes tend to repay their loans on time.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7A8637-980C-AF0B-CA4C-99DE9FCECA79}"/>
              </a:ext>
            </a:extLst>
          </p:cNvPr>
          <p:cNvSpPr txBox="1"/>
          <p:nvPr/>
        </p:nvSpPr>
        <p:spPr>
          <a:xfrm flipH="1">
            <a:off x="578651" y="6523006"/>
            <a:ext cx="10213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other hand, customers who took larger loan amounts show a higher chance of default, indicating higher financial stress or risk exposure.”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Model Building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9" name="Google Shape;219;p22"/>
          <p:cNvGrpSpPr/>
          <p:nvPr/>
        </p:nvGrpSpPr>
        <p:grpSpPr>
          <a:xfrm>
            <a:off x="1115568" y="3078327"/>
            <a:ext cx="10335750" cy="2493568"/>
            <a:chOff x="0" y="600303"/>
            <a:chExt cx="10335750" cy="2493568"/>
          </a:xfrm>
        </p:grpSpPr>
        <p:sp>
          <p:nvSpPr>
            <p:cNvPr id="220" name="Google Shape;220;p22"/>
            <p:cNvSpPr/>
            <p:nvPr/>
          </p:nvSpPr>
          <p:spPr>
            <a:xfrm>
              <a:off x="0" y="600303"/>
              <a:ext cx="10168127" cy="1108252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335246" y="849660"/>
              <a:ext cx="609539" cy="60953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2"/>
            <p:cNvSpPr/>
            <p:nvPr/>
          </p:nvSpPr>
          <p:spPr>
            <a:xfrm>
              <a:off x="1280031" y="600303"/>
              <a:ext cx="8888096" cy="1108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1280031" y="600303"/>
              <a:ext cx="8888096" cy="1108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275" tIns="117275" rIns="117275" bIns="117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venir"/>
                <a:buNone/>
              </a:pPr>
              <a:r>
                <a:rPr lang="en-US" sz="2100" dirty="0">
                  <a:solidFill>
                    <a:schemeClr val="dk1"/>
                  </a:solidFill>
                  <a:latin typeface="Times New Roman" panose="02020603050405020304" pitchFamily="18" charset="0"/>
                  <a:ea typeface="Avenir"/>
                  <a:cs typeface="Times New Roman" panose="02020603050405020304" pitchFamily="18" charset="0"/>
                  <a:sym typeface="Avenir"/>
                </a:rPr>
                <a:t>Trained and evaluated three machine learning models – Random Forest, Decision Tree and XGBoost – to Predict loan default risk based on borrower financial behavior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0" y="1985619"/>
              <a:ext cx="10168127" cy="1108252"/>
            </a:xfrm>
            <a:prstGeom prst="roundRect">
              <a:avLst>
                <a:gd name="adj" fmla="val 10000"/>
              </a:avLst>
            </a:prstGeom>
            <a:solidFill>
              <a:srgbClr val="CCD3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335246" y="2234976"/>
              <a:ext cx="609539" cy="60953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1280031" y="1985619"/>
              <a:ext cx="8888096" cy="1108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1280031" y="1985619"/>
              <a:ext cx="9055719" cy="1108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7275" tIns="117275" rIns="117275" bIns="117275" anchor="ctr" anchorCtr="0">
              <a:noAutofit/>
            </a:bodyPr>
            <a:lstStyle/>
            <a:p>
              <a:pPr>
                <a:buClr>
                  <a:schemeClr val="dk1"/>
                </a:buClr>
                <a:buSzPts val="2100"/>
              </a:pPr>
              <a:r>
                <a: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Selected </a:t>
              </a:r>
              <a:r>
                <a:rPr 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XGBoost</a:t>
              </a:r>
              <a:r>
                <a: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as the most effective model after comparing performance metrics such as </a:t>
              </a:r>
              <a:r>
                <a:rPr lang="en-US" sz="2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precision, recall, and F1-score</a:t>
              </a:r>
              <a:r>
                <a:rPr lang="en-US" sz="2100" dirty="0"/>
                <a:t>.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endParaRPr sz="210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Model Performance Metrics</a:t>
            </a:r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body" idx="1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  Random Forest:                              Decision Tress: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9A6F0-C2B5-9255-D895-AFCFAEF9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04" y="3554153"/>
            <a:ext cx="5026829" cy="19093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4998485-D4C8-159A-9A08-D5FBF6F28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869" y="3554153"/>
            <a:ext cx="4707464" cy="19093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Model Performance Metrics continued..</a:t>
            </a:r>
            <a:endParaRPr/>
          </a:p>
        </p:txBody>
      </p:sp>
      <p:sp>
        <p:nvSpPr>
          <p:cNvPr id="242" name="Google Shape;242;p24"/>
          <p:cNvSpPr txBox="1">
            <a:spLocks noGrp="1"/>
          </p:cNvSpPr>
          <p:nvPr>
            <p:ph type="body" idx="1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  XGBoost:</a:t>
            </a:r>
            <a:endParaRPr dirty="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69CFB639-836F-7091-8810-A33A59E4F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246611"/>
            <a:ext cx="5651500" cy="261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92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Streamlit Application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084256-A04E-1D90-7D60-94EA199CB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23" y="1503041"/>
            <a:ext cx="9740348" cy="48063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grpSp>
        <p:nvGrpSpPr>
          <p:cNvPr id="256" name="Google Shape;256;p26"/>
          <p:cNvGrpSpPr/>
          <p:nvPr/>
        </p:nvGrpSpPr>
        <p:grpSpPr>
          <a:xfrm>
            <a:off x="1116809" y="2711920"/>
            <a:ext cx="10165645" cy="3226382"/>
            <a:chOff x="1241" y="233896"/>
            <a:chExt cx="10165645" cy="3226382"/>
          </a:xfrm>
        </p:grpSpPr>
        <p:sp>
          <p:nvSpPr>
            <p:cNvPr id="257" name="Google Shape;257;p26"/>
            <p:cNvSpPr/>
            <p:nvPr/>
          </p:nvSpPr>
          <p:spPr>
            <a:xfrm>
              <a:off x="1241" y="233896"/>
              <a:ext cx="4356705" cy="2766507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85319" y="693771"/>
              <a:ext cx="4356705" cy="276650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 txBox="1"/>
            <p:nvPr/>
          </p:nvSpPr>
          <p:spPr>
            <a:xfrm>
              <a:off x="566346" y="774799"/>
              <a:ext cx="4194649" cy="26854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Successfully implemented multiple machine learning algorithms, handled missing </a:t>
              </a:r>
              <a:r>
                <a:rPr lang="en-US" sz="2000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data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, Applied encoding, and performed feature engineering to improve model accuracy and interpretability</a:t>
              </a:r>
              <a:endParaRPr sz="200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5326103" y="233896"/>
              <a:ext cx="4356705" cy="2766507"/>
            </a:xfrm>
            <a:prstGeom prst="roundRect">
              <a:avLst>
                <a:gd name="adj" fmla="val 1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5810181" y="693771"/>
              <a:ext cx="4356705" cy="276650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 txBox="1"/>
            <p:nvPr/>
          </p:nvSpPr>
          <p:spPr>
            <a:xfrm>
              <a:off x="5972237" y="774799"/>
              <a:ext cx="4194649" cy="26044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Loan default prediction plays a vital role in helping financial institutions identify high-risk borrowers early.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venir"/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By leveraging predictive analytics, lenders can minimize financial losses, make data-driven decisions, and enhance credit risk management.</a:t>
              </a:r>
              <a:endParaRPr sz="2000" b="0" i="0" u="none" strike="noStrike" cap="none" dirty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/>
          <p:nvPr/>
        </p:nvSpPr>
        <p:spPr>
          <a:xfrm>
            <a:off x="0" y="-1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8" name="Google Shape;268;p27"/>
          <p:cNvSpPr txBox="1">
            <a:spLocks noGrp="1"/>
          </p:cNvSpPr>
          <p:nvPr>
            <p:ph type="title"/>
          </p:nvPr>
        </p:nvSpPr>
        <p:spPr>
          <a:xfrm>
            <a:off x="5080216" y="1076324"/>
            <a:ext cx="6272784" cy="153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Times New Roman"/>
              <a:buNone/>
            </a:pPr>
            <a:r>
              <a:rPr lang="en-US" sz="5200" b="1" dirty="0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dirty="0"/>
          </a:p>
        </p:txBody>
      </p:sp>
      <p:pic>
        <p:nvPicPr>
          <p:cNvPr id="269" name="Google Shape;269;p27" descr="Graph on document with pen"/>
          <p:cNvPicPr preferRelativeResize="0"/>
          <p:nvPr/>
        </p:nvPicPr>
        <p:blipFill rotWithShape="1">
          <a:blip r:embed="rId3">
            <a:alphaModFix/>
          </a:blip>
          <a:srcRect l="34936" r="21212" b="-1"/>
          <a:stretch/>
        </p:blipFill>
        <p:spPr>
          <a:xfrm>
            <a:off x="20" y="10"/>
            <a:ext cx="4505305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/>
          <p:nvPr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rgbClr val="BCC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E020F4-AA9C-B0EB-9B4A-C6FCAD193E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0" y="3055928"/>
            <a:ext cx="67175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and ensemble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further enhance     prediction accuracy and performance.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financial and behavioral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the reliability of loan default predictions.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interpretability tools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transparency and trust in predictions.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the solution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and scalable loan risk assessment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/>
          <p:nvPr/>
        </p:nvSpPr>
        <p:spPr>
          <a:xfrm rot="10800000" flipH="1">
            <a:off x="578652" y="4501201"/>
            <a:ext cx="11034696" cy="18288"/>
          </a:xfrm>
          <a:prstGeom prst="rect">
            <a:avLst/>
          </a:prstGeom>
          <a:solidFill>
            <a:srgbClr val="BCC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1E8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D8D8D8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 txBox="1"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venir"/>
              <a:buNone/>
            </a:pPr>
            <a:r>
              <a:rPr lang="en-US" sz="7200" b="1"/>
              <a:t>Thankyou</a:t>
            </a: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3718560" y="5183902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centBox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1731</Words>
  <Application>Microsoft Macintosh PowerPoint</Application>
  <PresentationFormat>Widescreen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Avenir</vt:lpstr>
      <vt:lpstr>Calibri</vt:lpstr>
      <vt:lpstr>Times New Roman</vt:lpstr>
      <vt:lpstr>AccentBoxVTI</vt:lpstr>
      <vt:lpstr>AccentBoxVTI</vt:lpstr>
      <vt:lpstr>Loan default Prediction</vt:lpstr>
      <vt:lpstr>Overview and Importance</vt:lpstr>
      <vt:lpstr>Objectives and Goals</vt:lpstr>
      <vt:lpstr>Data Exploration</vt:lpstr>
      <vt:lpstr>Data Preprocessing</vt:lpstr>
      <vt:lpstr>Exploratory Data Analysis(EDA)</vt:lpstr>
      <vt:lpstr>PowerPoint Presentation</vt:lpstr>
      <vt:lpstr>EDA continued..</vt:lpstr>
      <vt:lpstr>Model Building</vt:lpstr>
      <vt:lpstr>Model Performance Metrics</vt:lpstr>
      <vt:lpstr>Model Performance Metrics continued..</vt:lpstr>
      <vt:lpstr>Streamlit Application</vt:lpstr>
      <vt:lpstr>Conclusion</vt:lpstr>
      <vt:lpstr>Future Work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Reddy Sai Reddy Duggireddy</cp:lastModifiedBy>
  <cp:revision>4</cp:revision>
  <dcterms:modified xsi:type="dcterms:W3CDTF">2025-12-15T00:26:41Z</dcterms:modified>
</cp:coreProperties>
</file>